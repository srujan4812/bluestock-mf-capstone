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Aft>
                <a:spcPts val="4000"/>
              </a:spcAft>
              <a:defRPr sz="1800" b="0">
                <a:solidFill>
                  <a:srgbClr val="6366F1"/>
                </a:solidFill>
                <a:latin typeface="Arial"/>
              </a:defRPr>
            </a:pPr>
            <a:r>
              <a:t>End-to-End Data Engineering, ETL Pipeline &amp; Interactive Dashboard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Mutual Fund Performance Analytics</a:t>
            </a:r>
          </a:p>
          <a:p>
            <a:pPr>
              <a:spcAft>
                <a:spcPts val="500"/>
              </a:spcAft>
              <a:defRPr sz="1400" b="0">
                <a:solidFill>
                  <a:srgbClr val="10B981"/>
                </a:solidFill>
                <a:latin typeface="Arial"/>
              </a:defRPr>
            </a:pPr>
            <a:r>
              <a:t>Prepared By: Srujan / Quantitative Analyst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Industry Pain Points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The Mutual Fund Selection Gap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Fragmented Data Ecosystem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NAV history, SIP inflows, AMC assets (AUM), and holdings are split across different sections of AMFI and NSE websites in formats like TXT, PDF, and HTML.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Complex Risk-Adjusted Evaluation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Retail investors and financial advisors select funds based on raw returns, ignoring critical risk-adjusted metrics like Sharpe, Sortino, Alpha, and Beta.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Lagging Performance Benchmarking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Difficult to assess whether actively managed schemes generate genuine alpha or simply track their respective benchmark indices (Nifty 50, Nifty 100, etc.).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Proposed Analytical Solutions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Automated ETL Ingestion Pipeline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Consolidate AMFI text reports, open REST APIs (mfapi.in), and historical datasets into a normalized relational database (SQLite).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Composite Ranking &amp; Scorecard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Design a 0-100 scoring algorithm evaluating funds dynamically on Returns (30%), Sharpe (25%), Alpha (20%), Expense Ratio (15%), and Drawdown (10%).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Self-Service Interactive Visualization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Replace slow static monthly reports with a live, drill-down Streamlit dashboard featuring multi-dimensional filtering.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Analytics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Key Deliverables &amp; Outcomes achieved during the Project Timeline:</a:t>
            </a:r>
          </a:p>
          <a:p>
            <a:pPr>
              <a:spcAft>
                <a:spcPts val="5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Phase 1: Automated Ingestion &amp; SQL Database Design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  - Ingest 10 flat CSV files containing 87K+ rows of historical transaction and NAV data.</a:t>
            </a:r>
          </a:p>
          <a:p>
            <a:pPr>
              <a:spcAft>
                <a:spcPts val="15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  - Build a 5-table star schema SQLite database and run integrity validation scripts.</a:t>
            </a:r>
          </a:p>
          <a:p>
            <a:pPr>
              <a:spcAft>
                <a:spcPts val="5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Phase 2: Exploratory Data Analysis &amp; Performance Scoring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  - Generate 17 key visualization charts mapping NAV, AUM, category inflows, and demographics.</a:t>
            </a:r>
          </a:p>
          <a:p>
            <a:pPr>
              <a:spcAft>
                <a:spcPts val="15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  - Compute 3yr CAGR, Sharpe, Sortino, Alpha/Beta, and Maximum Drawdown to rank all 40 funds.</a:t>
            </a:r>
          </a:p>
          <a:p>
            <a:pPr>
              <a:spcAft>
                <a:spcPts val="5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Phase 3: Interactive Visualization, Advanced Analytics &amp; Delivery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  - Develop an interactive multi-page Streamlit dashboard as a premium analytical workspace.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  - Implement Historical Value at Risk (VaR 95%), sector HHI concentration, cohort analysis, and fund recommendation.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  - Auto-generate presentation deck, 15-page PDF executive report, and push code package to GitHub.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Ingested Data Landscape &amp; API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Primary Financial Data Sources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AMFI India (Association of Mutual Funds in India)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Sourced Monthly SIP inflows, Active Folio counts, and AMC quarterly AUM reports.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Open API (mfapi.in REST endpoint)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Integrated daily NAV queries for SBI, HDFC, ICICI, Nippon, Axis, and Kotak funds. Auto-fetches clean JSON historical quotes.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NSE India (National Stock Exchange)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Closing prices of daily index benchmarks (Nifty 50, Nifty 100, Nifty Midcap 150) for tracking error regression.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Cleaned Dataset Inventory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fund_master (40 funds master metadata)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nav_history (~46,000 daily NAV rows, 2022-2026)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investor_transactions (~32,000 simulated transaction rows)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benchmark_indices (~8,000 daily index rows)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portfolio_holdings (~320 equity stock weights)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monthly_sip_inflows (48 months of industry inflows)</a:t>
            </a:r>
          </a:p>
          <a:p>
            <a:pPr>
              <a:spcAft>
                <a:spcPts val="15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• aum_by_fund_house (quarterly AMC AUM ranks)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Data Validation Note</a:t>
            </a:r>
          </a:p>
          <a:p>
            <a:pPr>
              <a:spcAft>
                <a:spcPts val="6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All AMFI codes validate perfectly. Duplicates removed; weekend/holiday gaps forward-filled in NAV history; all amounts verified positive.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ETL Pipeline &amp; Platform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366F1"/>
                </a:solidFill>
              </a:defRPr>
            </a:pPr>
            <a:r>
              <a:t>STEP 1</a:t>
            </a:r>
          </a:p>
          <a:p>
            <a:pPr>
              <a:spcAft>
                <a:spcPts val="1500"/>
              </a:spcAft>
              <a:defRPr sz="1600" b="1">
                <a:solidFill>
                  <a:srgbClr val="F8FAFC"/>
                </a:solidFill>
              </a:defRPr>
            </a:pPr>
            <a:r>
              <a:t>EXTRACT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Ingest AMFI historical CSVs, daily NAV text bulletins, and execute JSON API calls to mfapi.in for live anchoring.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20116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STEP 2</a:t>
            </a:r>
          </a:p>
          <a:p>
            <a:pPr>
              <a:spcAft>
                <a:spcPts val="1500"/>
              </a:spcAft>
              <a:defRPr sz="1600" b="1">
                <a:solidFill>
                  <a:srgbClr val="F8FAFC"/>
                </a:solidFill>
              </a:defRPr>
            </a:pPr>
            <a:r>
              <a:t>TRANSFORM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Clean schemas using Pandas. Parse dates, forward-fill holiday NAV gaps, normalize transaction types, filter outliers.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45920"/>
            <a:ext cx="20116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366F1"/>
                </a:solidFill>
              </a:defRPr>
            </a:pPr>
            <a:r>
              <a:t>STEP 3</a:t>
            </a:r>
          </a:p>
          <a:p>
            <a:pPr>
              <a:spcAft>
                <a:spcPts val="1500"/>
              </a:spcAft>
              <a:defRPr sz="1600" b="1">
                <a:solidFill>
                  <a:srgbClr val="F8FAFC"/>
                </a:solidFill>
              </a:defRPr>
            </a:pPr>
            <a:r>
              <a:t>LOAD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Design a relational star schema. Load structured data into SQLite with foreign-key checks and queries indexing.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645920"/>
            <a:ext cx="20116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Aft>
                <a:spcPts val="1500"/>
              </a:spcAft>
              <a:defRPr sz="1600" b="1">
                <a:solidFill>
                  <a:srgbClr val="F8FAFC"/>
                </a:solidFill>
              </a:defRPr>
            </a:pPr>
            <a:r>
              <a:t>ANALYZE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Compute CAGRs, Sharpe/Sortino ratios, OLS alpha/beta regressions, daily historical VaR 95%, sector HHI ratios.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645920"/>
            <a:ext cx="20116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366F1"/>
                </a:solidFill>
              </a:defRPr>
            </a:pPr>
            <a:r>
              <a:t>STEP 5</a:t>
            </a:r>
          </a:p>
          <a:p>
            <a:pPr>
              <a:spcAft>
                <a:spcPts val="1500"/>
              </a:spcAft>
              <a:defRPr sz="1600" b="1">
                <a:solidFill>
                  <a:srgbClr val="F8FAFC"/>
                </a:solidFill>
              </a:defRPr>
            </a:pPr>
            <a:r>
              <a:t>VISUALIZE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Serve live interactive metrics using a multi-page Streamlit application, supplemented by auto-generated PDF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Analytical Star Schema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Relational Schema Design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Central Fact Tables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- fact_nav: foreign key amfi_code, date, nav value.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- fact_transactions: investor_id, date, amfi_code, transaction_type (SIP/Lumpsum/Redemption), amount_inr, geographic &amp; demographic codes.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- fact_performance: 1yr/3yr/5yr CAGR return, alpha, beta, sharpe, sortino, standard deviation, max drawdown, morningstar rating.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Dimensional Tables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- dim_fund: unique amfi_code (PK), fund_house, scheme_name, category, sub_category, plan type, launch_date, expense_ratio.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- dim_date: date_id, year, month, quarter, is_weekday flag.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Database Integrity &amp; Indexes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Referential Integrity Validation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SQLite database compiled with 'PRAGMA foreign_keys = ON' enforcing primary-foreign relations. Check tests confirm 0 orphan records.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Performance Optimization Indexes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Generated specific indexes on fact tables to optimize join speeds during dashboard queries:</a:t>
            </a:r>
            <a:br/>
            <a:r>
              <a:t>  - idx_nav_amfi ON nav_history(amfi_code)</a:t>
            </a:r>
            <a:br/>
            <a:r>
              <a:t>  - idx_txn_amfi ON investor_transactions(amfi_code)</a:t>
            </a:r>
            <a:br/>
            <a:r>
              <a:t>  - idx_holdings_amfi ON portfolio_holdings(amfi_code)</a:t>
            </a:r>
          </a:p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Flat-file Integration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Cleaned CSVs are stored as secondary load sources, allowing direct import into visualization dashboards without ODBC setup.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Exploratory Data Analysis: Key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4688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INDUSTRY AUM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rial"/>
              </a:defRPr>
            </a:pPr>
            <a:r>
              <a:t>₹81.0 Lakh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0B981"/>
                </a:solidFill>
                <a:latin typeface="Arial"/>
              </a:defRPr>
            </a:pPr>
            <a:r>
              <a:t>Dec 2025 Milestone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4688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MONTHLY SIP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rial"/>
              </a:defRPr>
            </a:pPr>
            <a:r>
              <a:t>₹31,002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0B981"/>
                </a:solidFill>
                <a:latin typeface="Arial"/>
              </a:defRPr>
            </a:pPr>
            <a:r>
              <a:t>Active Inflow Peak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4688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TOTAL FOLIOS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rial"/>
              </a:defRPr>
            </a:pPr>
            <a:r>
              <a:t>26.12 Crore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0B981"/>
                </a:solidFill>
                <a:latin typeface="Arial"/>
              </a:defRPr>
            </a:pPr>
            <a:r>
              <a:t>78% Equity 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645920"/>
            <a:ext cx="24688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ACTIVE SIPS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rial"/>
              </a:defRPr>
            </a:pPr>
            <a:r>
              <a:t>9.35 Crore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10B981"/>
                </a:solidFill>
                <a:latin typeface="Arial"/>
              </a:defRPr>
            </a:pPr>
            <a:r>
              <a:t>Deepening Equity 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Core EDA Insights &amp; Findings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Industry Asset Boom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Total assets managed surged rapidly over 4 years. The dominance of the top 3 AMCs is heavy: SBI Mutual Fund (₹12.50L Cr), ICICI Prudential (₹10.74L Cr), and HDFC Mutual Fund (₹9.30L Cr) control over 40% of the industry's total AUM.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Sector Allocation and Demographics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Financial Services (29.2%) and Information Technology (16.4%) represent the largest sector weights in equity portfolios. Investor demographics reflect that 52% of investors belong to the 26-35 and 36-45 age groups, representing young professionals.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Geographic Contribution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T30 (Top 30 cities) contribute to 64% of transaction volumes, but B30 (Beyond Top 30) cities show rapid, double-digit growth in SIP registrations, highlighting the expansion of mutual fund retail 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Fund Selection Scorecard &amp;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The Composite Scorecard Model</a:t>
            </a:r>
          </a:p>
          <a:p>
            <a:pPr>
              <a:spcAft>
                <a:spcPts val="15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To remove bias from raw return calculations, we rank funds based on a weighted composite score (0 to 100):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  - 30% Weight: 3-Year CAGR Return Rank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  - 25% Weight: Sharpe Ratio Rank (Risk-adjusted return)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  - 20% Weight: Annualized Alpha Rank (vs Nifty 100)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  - 15% Weight: Expense Ratio Rank (Inverted - lower is better)</a:t>
            </a:r>
          </a:p>
          <a:p>
            <a:pPr>
              <a:spcAft>
                <a:spcPts val="15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  - 10% Weight: Max Drawdown Rank (Inverted - smaller is better)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Tracking Error Validation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Top funds show high tracking errors vs Nifty 50 (8.5% - 10.2%) but lower errors vs Nifty 100, proving active managers target Nifty 100 stock universes while seeking alpha.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Top 5 Performing Funds (Scorecard Results)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1. Mirae Asset Large Cap Fund (Regular, Growth)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   Score: 86.25 | 3Yr CAGR: 34.00% | Sharpe: 1.45 | Alpha: 26.98%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2. ICICI Pru Midcap Fund (Regular, Growth)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   Score: 82.25 | 3Yr CAGR: 31.78% | Sharpe: 1.18 | Alpha: 29.26%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3. Kotak Flexicap Fund (Regular, Growth)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   Score: 82.00 | 3Yr CAGR: 29.58% | Sharpe: 1.31 | Alpha: 27.33%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4. HDFC Mid-Cap Opportunities Fund (Regular, Growth)</a:t>
            </a:r>
          </a:p>
          <a:p>
            <a:pPr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   Score: 80.75 | 3Yr CAGR: 32.44% | Sharpe: 1.09 | Alpha: 27.20%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5. ICICI Pru Bluechip Fund (Direct, Growth)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   Score: 80.00 | 3Yr CAGR: 32.49% | Sharpe: 1.03 | Alpha: 21.19%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Advanced Risk &amp; Behavioral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Risk Analytics (VaR &amp; HHI)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Historical Value at Risk (VaR 95%)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Computes daily potential loss. Equity funds exhibit daily VaR of 1.45% - 1.80%, indicating a 5% chance of losing more than 1.5% on any single day.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Conditional Value at Risk (CVaR 95%)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Computes the expected tail loss. Expected return on worst-case days is -2.10% to -2.60% for equity schemes.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Sector Concentration (HHI Index)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Measures portfolio diversification. Midcap and sector funds show higher HHI (0.22 - 0.28) compared to diversified flexicap schemes (0.12 - 0.15).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Behavioral &amp; Churn Analytics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Investor Cohort Dynamics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Comparing 2024 and 2025 transaction cohorts:</a:t>
            </a:r>
            <a:br/>
            <a:r>
              <a:t>  - 2024 Cohort: Avg SIP ₹4,250 | Net Investment ₹45.2 Cr</a:t>
            </a:r>
            <a:br/>
            <a:r>
              <a:t>  - 2025 Cohort: Avg SIP ₹5,100 | Net Investment ₹32.8 Cr</a:t>
            </a:r>
            <a:br/>
            <a:r>
              <a:t>  Highlights a rise in average monthly transaction ticket size.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SIP Continuation &amp; Churn Risk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Analyzed investors with &gt;= 6 SIP transactions. 1,361 investors exhibit gaps between payments &gt; 35 days, flagging them as at-risk for churn.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Fund Recommendation Engine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Simple rule-based model mapping risk profiles:</a:t>
            </a:r>
            <a:br/>
            <a:r>
              <a:t>  - Low Risk: Gilt &amp; Short Term Debt (Sharpe ~0.8)</a:t>
            </a:r>
            <a:br/>
            <a:r>
              <a:t>  - Moderate Risk: Large Cap &amp; Flexi Cap (Sharpe ~1.1)</a:t>
            </a:r>
            <a:br/>
            <a:r>
              <a:t>  - High Risk: Small Cap &amp; Mid Cap (Sharpe ~1.4)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Interactive Dashboard: Industry &amp;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2120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Page 1: Industry Overview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Executive KPI Cards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Displays industry AUM, SIP inflow, folio counts, and active accounts.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Assets Under Management (AUM) Growth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Visualizes AUM trends and top 10 AMC asset ranks using interactive Plotly charts.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Folio Growth Breakdown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Interactive lines tracking Equity, Debt, and Hybrid folio milestones.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2120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Page 4: SIP &amp; Market Trends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Inflow-Market Correlation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Dual-axis chart matching monthly SIP growth with Nifty 50 close price movements.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Category Net Inflows Heatmap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Provides seasonal and monthly category flows (Large, Mid, Small Cap).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Sector and Category Winners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Bar charts displaying top 5 categories by net inflow in the financial year.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Interactive Dashboard: Performance &amp; Demographics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2120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Page 2: Fund Performance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Scatter Risk-Return Profile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Interactive bubble chart plotting CAGR vs Std Dev (size = Sharpe).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Sortable Scorecard Grid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Allows immediate sort by Sharpe, Alpha, expense ratio, or composite score.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Fund Benchmark Line Chart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Traces selected fund NAV vs Nifty 50 and Nifty 100 on standard 3-year periods.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2120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Page 3: Investor Analytics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Geographic Heatmaps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Shows transaction amount distributions across Indian states.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Demographic Splits</a:t>
            </a:r>
          </a:p>
          <a:p>
            <a:pPr>
              <a:spcAft>
                <a:spcPts val="12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Donut charts showing split between SIP, Lumpsum, and Redemption volume.</a:t>
            </a:r>
          </a:p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Ticket Size Analysis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Bar charts displaying average SIP size grouped by age and city tier.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BLUESTOCK MF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Summary, Deliverables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Platform Achievements &amp; Business Value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Completed Deliverables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ETL pipeline and SQLite star schema containing all cleaned and validated AMFI datasets.</a:t>
            </a:r>
            <a:br/>
            <a:r>
              <a:t>✓ Automated analytics engine calculatingCAGR, Sharpe, Sortino, Alpha/Beta, VaR, and sector HHI.</a:t>
            </a:r>
            <a:br/>
            <a:r>
              <a:t>✓ Streamlit interactive dashboard application running smoothly.</a:t>
            </a:r>
            <a:br/>
            <a:r>
              <a:t>✓ Professional PowerPoint slides and 15-page PDF report auto-generated for stakeholders.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Core Business Value</a:t>
            </a:r>
          </a:p>
          <a:p>
            <a:pPr>
              <a:spcAft>
                <a:spcPts val="15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- Resolves data fragmentation by consolidating public PDF/text data into a single query database.</a:t>
            </a:r>
            <a:br/>
            <a:r>
              <a:t>- Empowers retail advisors to recommend funds on risk-adjusted scores instead of return anomalies.</a:t>
            </a:r>
            <a:br/>
            <a:r>
              <a:t>- Identifies at-risk investors using gap churn analysis, enabling targeted client retention.</a:t>
            </a:r>
          </a:p>
          <a:p>
            <a:pPr>
              <a:spcAft>
                <a:spcPts val="4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• Recommended Future Enhancements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- Integrate Markowitz Efficient Frontier module to auto-optimize portfolio weights.</a:t>
            </a:r>
            <a:br/>
            <a:r>
              <a:t>- Set up weekly email triggers sending automated HTML summaries of performance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